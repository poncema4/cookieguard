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67" dt="2026-09-15T22:22:41.2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87945F-B2EE-41B9-9A5E-26D045676104}" type="datetimeFigureOut"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F0BD2A-DA8F-47AC-9DC2-D7AA340142B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459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COOKIEGUARD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926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Cookie and Session Security Laboratory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3657600"/>
            <a:ext cx="2926080" cy="0"/>
          </a:xfrm>
          <a:prstGeom prst="line">
            <a:avLst/>
          </a:prstGeom>
          <a:noFill/>
          <a:ln w="12700">
            <a:solidFill>
              <a:srgbClr val="3C4C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8862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Ponce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Seton Hall University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M.S. Cybersecurity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ISCI 6301: App Security &amp; Web Technology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and motivation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515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Cookie and session security settings are easy to configure incorrectly and difficult to observe directly</a:t>
            </a:r>
            <a:endParaRPr lang="en-US" sz="1600" dirty="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 err="1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CookieGuard</a:t>
            </a:r>
            <a:r>
              <a:rPr lang="en-US" sz="1600" dirty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 makes browser cookie and session behavior observable rather than theoretical</a:t>
            </a:r>
            <a:endParaRPr lang="en-US" sz="1600" dirty="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It provides controlled XSS and CSRF experiments using dedicated lab cookies</a:t>
            </a:r>
            <a:endParaRPr lang="en-US" sz="1600" dirty="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Goal: demonstrate the actual effect of common cookie security protections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6126480" cy="658368"/>
          </a:xfrm>
          <a:prstGeom prst="roundRect">
            <a:avLst>
              <a:gd name="adj" fmla="val 8333"/>
            </a:avLst>
          </a:prstGeom>
          <a:solidFill>
            <a:srgbClr val="F1EFE8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83864" y="2194560"/>
            <a:ext cx="164592" cy="201168"/>
          </a:xfrm>
          <a:prstGeom prst="downArrow">
            <a:avLst/>
          </a:prstGeom>
          <a:solidFill>
            <a:srgbClr val="B4B2A9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404872"/>
            <a:ext cx="6126480" cy="658368"/>
          </a:xfrm>
          <a:prstGeom prst="roundRect">
            <a:avLst>
              <a:gd name="adj" fmla="val 8333"/>
            </a:avLst>
          </a:prstGeom>
          <a:solidFill>
            <a:srgbClr val="E6F1FB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404872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/ TypeScript frontend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404872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https://localhost:3000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83864" y="3090672"/>
            <a:ext cx="164592" cy="201168"/>
          </a:xfrm>
          <a:prstGeom prst="downArrow">
            <a:avLst/>
          </a:prstGeom>
          <a:solidFill>
            <a:srgbClr val="B4B2A9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3300984"/>
            <a:ext cx="6126480" cy="658368"/>
          </a:xfrm>
          <a:prstGeom prst="roundRect">
            <a:avLst>
              <a:gd name="adj" fmla="val 8333"/>
            </a:avLst>
          </a:prstGeom>
          <a:solidFill>
            <a:srgbClr val="E6F1FB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300984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proxy  -&gt;  Node.js / TypeScript backend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300984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https://127.0.0.1:4443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83864" y="3986784"/>
            <a:ext cx="164592" cy="201168"/>
          </a:xfrm>
          <a:prstGeom prst="downArrow">
            <a:avLst/>
          </a:prstGeom>
          <a:solidFill>
            <a:srgbClr val="B4B2A9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4197096"/>
            <a:ext cx="6126480" cy="658368"/>
          </a:xfrm>
          <a:prstGeom prst="roundRect">
            <a:avLst>
              <a:gd name="adj" fmla="val 8333"/>
            </a:avLst>
          </a:prstGeom>
          <a:solidFill>
            <a:srgbClr val="E6F1FB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4197096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/ authentication + security labs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1463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facts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187452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Next.js + TypeScript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Backend: Node.js </a:t>
            </a:r>
            <a:endParaRPr lang="en-US" sz="1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Frontend runs at HTTPS localhost:3000</a:t>
            </a:r>
            <a:endParaRPr lang="en-US" sz="1200" dirty="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runs at HTTPS 127.0.0.1:4443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proxy forwards /api/* to backend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are stored in memory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HTTPS uses mkcert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COOKIE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Cookie and session security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520440" cy="1828800"/>
          </a:xfrm>
          <a:prstGeom prst="roundRect">
            <a:avLst>
              <a:gd name="adj" fmla="val 3000"/>
            </a:avLst>
          </a:prstGeom>
          <a:solidFill>
            <a:srgbClr val="F7F7F4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574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Cookie is sent only over HTTPS. Protects cookie transport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60520" y="1508760"/>
            <a:ext cx="3520440" cy="1828800"/>
          </a:xfrm>
          <a:prstGeom prst="roundRect">
            <a:avLst>
              <a:gd name="adj" fmla="val 3000"/>
            </a:avLst>
          </a:prstGeom>
          <a:solidFill>
            <a:srgbClr val="F7F7F4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43400" y="16459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20574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JavaScript cannot directly read the cookie. Reduces direct cookie theft via JS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818120" y="1508760"/>
            <a:ext cx="3520440" cy="1828800"/>
          </a:xfrm>
          <a:prstGeom prst="roundRect">
            <a:avLst>
              <a:gd name="adj" fmla="val 3000"/>
            </a:avLst>
          </a:prstGeom>
          <a:solidFill>
            <a:srgbClr val="F7F7F4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01000" y="16459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SameSite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001000" y="20574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Controls when cookies are sent with cross-site requests. Helps mitigate CSRF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50292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cookieguard_session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402336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= enabled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 = enabled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SameSite = Lax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= /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70332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5F6B7A"/>
                </a:solidFill>
                <a:latin typeface="Calibri"/>
                <a:ea typeface="Calibri"/>
                <a:cs typeface="Calibri"/>
              </a:rPr>
              <a:t>These settings reduce specific risks; they do not make the application completely secure on their own</a:t>
            </a:r>
            <a:endParaRPr lang="en-US" sz="1250" dirty="0">
              <a:latin typeface="Calibri"/>
              <a:ea typeface="Calibri"/>
              <a:cs typeface="Calibri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CONTROLLED EXPERIMENT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XSS lab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532120" cy="411480"/>
          </a:xfrm>
          <a:prstGeom prst="roundRect">
            <a:avLst>
              <a:gd name="adj" fmla="val 11111"/>
            </a:avLst>
          </a:prstGeom>
          <a:solidFill>
            <a:srgbClr val="FAECE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mode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65960"/>
            <a:ext cx="5166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Dedicated XSS lab cookie does NOT use </a:t>
            </a:r>
            <a:r>
              <a:rPr lang="en-US" sz="1250" dirty="0" err="1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HttpOnly</a:t>
            </a:r>
            <a:endParaRPr lang="en-US" sz="1250" err="1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Controlled JavaScript can read it using </a:t>
            </a:r>
            <a:r>
              <a:rPr lang="en-US" sz="1250" dirty="0" err="1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document.cookie</a:t>
            </a:r>
            <a:endParaRPr lang="en-US" sz="1250" dirty="0" err="1">
              <a:latin typeface="Calibri"/>
              <a:ea typeface="Calibri"/>
              <a:cs typeface="Calibri"/>
            </a:endParaRPr>
          </a:p>
        </p:txBody>
      </p:sp>
      <p:pic>
        <p:nvPicPr>
          <p:cNvPr id="7" name="Image 0" descr="/home/claude/cookieguard/CookieGuard-main/evidence/xss-vulnerabl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3154680"/>
            <a:ext cx="5532120" cy="3063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72200" y="1417320"/>
            <a:ext cx="5532120" cy="411480"/>
          </a:xfrm>
          <a:prstGeom prst="roundRect">
            <a:avLst>
              <a:gd name="adj" fmla="val 11111"/>
            </a:avLst>
          </a:prstGeom>
          <a:solidFill>
            <a:srgbClr val="E1F5E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355080" y="141732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mode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355080" y="1965960"/>
            <a:ext cx="5166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Same controlled payload; </a:t>
            </a:r>
            <a:r>
              <a:rPr lang="en-US" sz="1250" dirty="0" err="1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HttpOnly</a:t>
            </a:r>
            <a:r>
              <a:rPr lang="en-US" sz="1250" dirty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 is enabled</a:t>
            </a:r>
            <a:endParaRPr lang="en-US" sz="125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JavaScript cannot directly read the cookie value</a:t>
            </a:r>
            <a:endParaRPr lang="en-US" sz="1250" dirty="0">
              <a:latin typeface="Calibri"/>
              <a:ea typeface="Calibri"/>
              <a:cs typeface="Calibri"/>
            </a:endParaRPr>
          </a:p>
        </p:txBody>
      </p:sp>
      <p:pic>
        <p:nvPicPr>
          <p:cNvPr id="11" name="Image 1" descr="/home/claude/cookieguard/CookieGuard-main/evidence/xss-protect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72200" y="3154680"/>
            <a:ext cx="5532120" cy="30632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2920" y="637540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6B7A"/>
                </a:solidFill>
                <a:latin typeface="Calibri"/>
                <a:ea typeface="Calibri"/>
                <a:cs typeface="Calibri"/>
              </a:rPr>
              <a:t>Secure remains enabled in both modes; HttpOnly does not prevent XSS itself, only direct JavaScript access to the cookie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CONTROLLED EXPERIMENT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CSRF lab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E1F5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Same-site POST  -&gt;  cookie attached  -&gt;  HTTP 200</a:t>
            </a:r>
            <a:endParaRPr lang="en-US" sz="1250" dirty="0"/>
          </a:p>
        </p:txBody>
      </p:sp>
      <p:pic>
        <p:nvPicPr>
          <p:cNvPr id="6" name="Image 0" descr="/home/claude/cookieguard/CookieGuard-main/evidence/csrf-same-sit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2057400"/>
            <a:ext cx="553212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72200" y="1463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AECE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355080" y="14630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Cross-site POST  -&gt;  cookie withheld  -&gt;  HTTP 403</a:t>
            </a:r>
            <a:endParaRPr lang="en-US" sz="1250" dirty="0"/>
          </a:p>
        </p:txBody>
      </p:sp>
      <p:pic>
        <p:nvPicPr>
          <p:cNvPr id="9" name="Image 1" descr="/home/claude/cookieguard/CookieGuard-main/evidence/csrf-cross-sit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72200" y="2057400"/>
            <a:ext cx="5532120" cy="3931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02920" y="608076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F6B7A"/>
                </a:solidFill>
                <a:latin typeface="Calibri"/>
                <a:ea typeface="Calibri"/>
                <a:cs typeface="Calibri"/>
              </a:rPr>
              <a:t>Authenticated session cookie uses </a:t>
            </a:r>
            <a:r>
              <a:rPr lang="en-US" sz="1050" i="1" dirty="0" err="1">
                <a:solidFill>
                  <a:srgbClr val="5F6B7A"/>
                </a:solidFill>
                <a:latin typeface="Calibri"/>
                <a:ea typeface="Calibri"/>
                <a:cs typeface="Calibri"/>
              </a:rPr>
              <a:t>SameSite</a:t>
            </a:r>
            <a:r>
              <a:rPr lang="en-US" sz="1050" i="1" dirty="0">
                <a:solidFill>
                  <a:srgbClr val="5F6B7A"/>
                </a:solidFill>
                <a:latin typeface="Calibri"/>
                <a:ea typeface="Calibri"/>
                <a:cs typeface="Calibri"/>
              </a:rPr>
              <a:t>=Lax. The dedicated CSRF lab cookie uses </a:t>
            </a:r>
            <a:r>
              <a:rPr lang="en-US" sz="1050" i="1" dirty="0" err="1">
                <a:solidFill>
                  <a:srgbClr val="5F6B7A"/>
                </a:solidFill>
                <a:latin typeface="Calibri"/>
                <a:ea typeface="Calibri"/>
                <a:cs typeface="Calibri"/>
              </a:rPr>
              <a:t>SameSite</a:t>
            </a:r>
            <a:r>
              <a:rPr lang="en-US" sz="1050" i="1" dirty="0">
                <a:solidFill>
                  <a:srgbClr val="5F6B7A"/>
                </a:solidFill>
                <a:latin typeface="Calibri"/>
                <a:ea typeface="Calibri"/>
                <a:cs typeface="Calibri"/>
              </a:rPr>
              <a:t>=Strict for a deterministic blocked case; Lax does not block every possible CSRF scenario</a:t>
            </a:r>
            <a:endParaRPr lang="en-US" sz="1050" dirty="0">
              <a:latin typeface="Calibri"/>
              <a:ea typeface="Calibri"/>
              <a:cs typeface="Calibri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HTTPS, testing, and hardening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2880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Frontend and backend both use HTTPS</a:t>
            </a:r>
            <a:endParaRPr lang="en-US" sz="115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Backend health check returned HTTP 200</a:t>
            </a:r>
            <a:endParaRPr lang="en-US" sz="115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Local certificates generated with </a:t>
            </a:r>
            <a:r>
              <a:rPr lang="en-US" sz="1150" dirty="0" err="1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mkcert</a:t>
            </a:r>
            <a:endParaRPr lang="en-US" sz="1150" dirty="0" err="1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TLS verification was not globally disabled</a:t>
            </a:r>
            <a:endParaRPr lang="en-US" sz="1150" dirty="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425196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251960" y="182880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verify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 tests passed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TypeScript build passed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production build passed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verification passed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00100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001000" y="182880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X-Content-Type-Options: nosniff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X-Frame-Options: DENY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Referrer-Policy: no-referrer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Cache-Control: no-store (where applicable)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KiB JSON body limit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request-body accumulation</a:t>
            </a:r>
            <a:endParaRPr lang="en-US" sz="1100" dirty="0"/>
          </a:p>
        </p:txBody>
      </p:sp>
      <p:pic>
        <p:nvPicPr>
          <p:cNvPr id="10" name="Image 0" descr="/home/claude/cookieguard/secure-cookie-redact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4389120"/>
            <a:ext cx="5394960" cy="1874520"/>
          </a:xfrm>
          <a:prstGeom prst="rect">
            <a:avLst/>
          </a:prstGeom>
        </p:spPr>
      </p:pic>
      <p:pic>
        <p:nvPicPr>
          <p:cNvPr id="11" name="Image 1" descr="/home/claude/cookieguard/https-network-redact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72200" y="4389120"/>
            <a:ext cx="5394960" cy="18745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WRAP-UP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Results, limitations, and takeaway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63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2880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MVP completion criteria were met</a:t>
            </a:r>
            <a:endParaRPr lang="en-US" sz="1300" dirty="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Automated verification passed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Manual browser testing covered the main security labs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172200" y="1463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182880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demo account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sessions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mkcert certificate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 vulnerable XSS mode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15.5.6 should be upgraded before production use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4709160"/>
            <a:ext cx="11201400" cy="1051560"/>
          </a:xfrm>
          <a:prstGeom prst="roundRect">
            <a:avLst>
              <a:gd name="adj" fmla="val 5217"/>
            </a:avLst>
          </a:prstGeom>
          <a:solidFill>
            <a:srgbClr val="1223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709160"/>
            <a:ext cx="10561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CookieGuard makes cookie and session security behavior observable through controlled browser experiments</a:t>
            </a:r>
            <a:endParaRPr lang="en-US" sz="1600" dirty="0">
              <a:latin typeface="Georgia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CookieGuard</dc:title>
  <dc:subject>PptxGenJS Presentation</dc:subject>
  <dc:creator>Marco Ponce</dc:creator>
  <cp:lastModifiedBy>Marco Ponce</cp:lastModifiedBy>
  <cp:revision>25</cp:revision>
  <dcterms:created xsi:type="dcterms:W3CDTF">2026-09-15T22:05:34Z</dcterms:created>
  <dcterms:modified xsi:type="dcterms:W3CDTF">2026-09-15T22:30:31Z</dcterms:modified>
</cp:coreProperties>
</file>